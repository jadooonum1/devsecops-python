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8c2e17a-72a3-6878-628c-cd0ab74cbef3}">
          <p14:sldIdLst>
            <p14:sldId id="256"/>
            <p14:sldId id="257"/>
          </p14:sldIdLst>
        </p14:section>
        <p14:section name="Design" id="{b279f7f8-dbb1-f829-0c62-61e2ef4f1d05}">
          <p14:sldIdLst>
            <p14:sldId id="258"/>
            <p14:sldId id="259"/>
            <p14:sldId id="260"/>
          </p14:sldIdLst>
        </p14:section>
        <p14:section name="Delivery" id="{abf49261-312e-b284-6525-5d2f7b7babe3}">
          <p14:sldIdLst>
            <p14:sldId id="261"/>
            <p14:sldId id="262"/>
          </p14:sldIdLst>
        </p14:section>
        <p14:section name="Platform" id="{b8e971d6-78bd-9a8d-8c50-643c3e91ebfc}">
          <p14:sldIdLst>
            <p14:sldId id="263"/>
            <p14:sldId id="264"/>
          </p14:sldIdLst>
        </p14:section>
        <p14:section name="Operations" id="{2a677fbc-4f98-9a94-1503-75eb5a435bd1}">
          <p14:sldIdLst>
            <p14:sldId id="265"/>
            <p14:sldId id="266"/>
          </p14:sldIdLst>
        </p14:section>
        <p14:section name="Wrap-up" id="{26bd62ad-ea18-3094-c014-ed4dcaeae05e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3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34"/>
                </a:solidFill>
                <a:latin typeface="+mn-lt"/>
              </a:rPr>
              <a:t>Backend replicas (sampled every 15 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replicas</c:v>
                </c:pt>
              </c:strCache>
            </c:strRef>
          </c:tx>
          <c:spPr>
            <a:solidFill>
              <a:srgbClr val="2F5D50"/>
            </a:solidFill>
            <a:ln w="38100" cap="flat">
              <a:solidFill>
                <a:srgbClr val="2F5D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5D50"/>
              </a:solidFill>
              <a:ln w="9525" cap="flat">
                <a:solidFill>
                  <a:srgbClr val="2F5D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0s</c:v>
                  </c:pt>
                  <c:pt idx="1">
                    <c:v>16s</c:v>
                  </c:pt>
                  <c:pt idx="2">
                    <c:v>31s</c:v>
                  </c:pt>
                  <c:pt idx="3">
                    <c:v>46s</c:v>
                  </c:pt>
                  <c:pt idx="4">
                    <c:v>61s</c:v>
                  </c:pt>
                  <c:pt idx="5">
                    <c:v>76s</c:v>
                  </c:pt>
                  <c:pt idx="6">
                    <c:v>91s</c:v>
                  </c:pt>
                  <c:pt idx="7">
                    <c:v>106s</c:v>
                  </c:pt>
                  <c:pt idx="8">
                    <c:v>121s</c:v>
                  </c:pt>
                  <c:pt idx="9">
                    <c:v>136s</c:v>
                  </c:pt>
                  <c:pt idx="10">
                    <c:v>152s</c:v>
                  </c:pt>
                  <c:pt idx="11">
                    <c:v>167s</c:v>
                  </c:pt>
                  <c:pt idx="12">
                    <c:v>182s</c:v>
                  </c:pt>
                  <c:pt idx="13">
                    <c:v>197s</c:v>
                  </c:pt>
                  <c:pt idx="14">
                    <c:v>212s</c:v>
                  </c:pt>
                  <c:pt idx="15">
                    <c:v>227s</c:v>
                  </c:pt>
                  <c:pt idx="16">
                    <c:v>244s</c:v>
                  </c:pt>
                  <c:pt idx="17">
                    <c:v>260s</c:v>
                  </c:pt>
                  <c:pt idx="18">
                    <c:v>275s</c:v>
                  </c:pt>
                  <c:pt idx="19">
                    <c:v>290s</c:v>
                  </c:pt>
                  <c:pt idx="20">
                    <c:v>305s</c:v>
                  </c:pt>
                  <c:pt idx="21">
                    <c:v>320s</c:v>
                  </c:pt>
                  <c:pt idx="22">
                    <c:v>335s</c:v>
                  </c:pt>
                  <c:pt idx="23">
                    <c:v>350s</c:v>
                  </c:pt>
                  <c:pt idx="24">
                    <c:v>365s</c:v>
                  </c:pt>
                  <c:pt idx="25">
                    <c:v>381s</c:v>
                  </c:pt>
                  <c:pt idx="26">
                    <c:v>396s</c:v>
                  </c:pt>
                  <c:pt idx="27">
                    <c:v>411s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F7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DD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F7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ShelfLend: a library lending system built end to end with CI/CD, security scanning, Terraform, Kubernetes, GitOps and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rules give the API real conflicts to handle. They are enforced in the API, by row locks, and by Postgres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Versions are the ones actually pinned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Traffic: browser to ingress-nginx; / to the frontend, /api to the backend. Delivery: Actions pushes SHA-tagged images to GHCR and commits the SHA to gitops/; Argo CD applies the Helm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ShelfLend · Parth Agarwal · 10293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ShelfLend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A library lending system, shipped the DevSecOps way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Parth Agarwal  ·  Roll No. 10293  ·  Session 21 Final Capstone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github.com/Jadooonum1/devsecops-python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Lending rules a real library desk needs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99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 copy can't be lent twice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647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Row locks plus a partial unique index on active loans; the second request gets 409.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59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3408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Members have loan limits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066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Each member has max_loans (default 3); over the limit returns 409 with the count.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00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2826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Overdue loans earn fines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4845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₹10 per late day on return; ₹100 unpaid blocks new loans until settled.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242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2245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Renewals are capped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5902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Up to 2 renewals of 14 days, never on an overdue loan.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8464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84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Every change is audited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532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audit_events feeds the dashboard's activity stream.</a:t>
            </a:r>
            <a:endParaRPr lang="en-US" sz="1400" dirty="0"/>
          </a:p>
        </p:txBody>
      </p:sp>
      <p:pic>
        <p:nvPicPr>
          <p:cNvPr id="23" name="Image 0" descr="/Users/parthagarwal/Documents/devsecops-python/screenshots/m1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417320"/>
            <a:ext cx="4937760" cy="324612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72084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Dashboard served through the Kubernetes Ingress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Tech stack</a:t>
            </a:r>
            <a:endParaRPr lang="en-US" sz="3600" dirty="0"/>
          </a:p>
        </p:txBody>
      </p:sp>
      <p:sp>
        <p:nvSpPr>
          <p:cNvPr id="3" name="stack-0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Application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FastAPI 0.142 · SQLAlchemy 2.0 · Alembic 1.20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React 18 + Vite 6 · PostgreSQL 17</a:t>
            </a:r>
            <a:endParaRPr lang="en-US" sz="1400" dirty="0"/>
          </a:p>
        </p:txBody>
      </p:sp>
      <p:sp>
        <p:nvSpPr>
          <p:cNvPr id="6" name="stack-1"/>
          <p:cNvSpPr/>
          <p:nvPr/>
        </p:nvSpPr>
        <p:spPr>
          <a:xfrm>
            <a:off x="429768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Quality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240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pytest 9 (32 tests, 92% coverage)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SQLite test DB built by real migrations</a:t>
            </a:r>
            <a:endParaRPr lang="en-US" sz="1400" dirty="0"/>
          </a:p>
        </p:txBody>
      </p:sp>
      <p:sp>
        <p:nvSpPr>
          <p:cNvPr id="9" name="stack-2"/>
          <p:cNvSpPr/>
          <p:nvPr/>
        </p:nvSpPr>
        <p:spPr>
          <a:xfrm>
            <a:off x="804672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Containers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240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python:3.12-slim multi-stage (UID 10001)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node:22 → nginx-unprivileged (UID 101)</a:t>
            </a:r>
            <a:endParaRPr lang="en-US" sz="1400" dirty="0"/>
          </a:p>
        </p:txBody>
      </p:sp>
      <p:sp>
        <p:nvSpPr>
          <p:cNvPr id="12" name="stack-3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CI/CD + Security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177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GitHub Actions · GHCR (SHA tags, amd64+arm64)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Trivy 0.75 · Gitleaks 8.30 · Bandit 1.9</a:t>
            </a:r>
            <a:endParaRPr lang="en-US" sz="1400" dirty="0"/>
          </a:p>
        </p:txBody>
      </p:sp>
      <p:sp>
        <p:nvSpPr>
          <p:cNvPr id="15" name="stack-4"/>
          <p:cNvSpPr/>
          <p:nvPr/>
        </p:nvSpPr>
        <p:spPr>
          <a:xfrm>
            <a:off x="429768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Platform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6177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kind 0.33 · Helm 4 · ingress-nginx 1.15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Argo CD 3.5 (GitOps) · HPA + PDB</a:t>
            </a:r>
            <a:endParaRPr lang="en-US" sz="1400" dirty="0"/>
          </a:p>
        </p:txBody>
      </p:sp>
      <p:sp>
        <p:nvSpPr>
          <p:cNvPr id="18" name="stack-5"/>
          <p:cNvSpPr/>
          <p:nvPr/>
        </p:nvSpPr>
        <p:spPr>
          <a:xfrm>
            <a:off x="804672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Infra + Observability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6177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Terraform 1.16, AWS provider 6.x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kube-prometheus-stack 92.8 · Grafana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514600" y="1325880"/>
            <a:ext cx="6035040" cy="4846320"/>
          </a:xfrm>
          <a:prstGeom prst="roundRect">
            <a:avLst>
              <a:gd name="adj" fmla="val 1887"/>
            </a:avLst>
          </a:prstGeom>
          <a:solidFill>
            <a:schemeClr val="bg1"/>
          </a:solidFill>
          <a:ln w="12700">
            <a:solidFill>
              <a:srgbClr val="6B7F79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697480" y="1417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kind cluster · namespace shelflend (PSS restricted)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1645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081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Browser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shelflend.local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2880360"/>
            <a:ext cx="155448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29900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Ingress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33375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ingress-nginx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1737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frontend ×2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286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nginx :8080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977640"/>
            <a:ext cx="1737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4087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backend 2–6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4434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FastAPI :8000 · HPA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3977640"/>
            <a:ext cx="14173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40873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postgres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44348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StatefulSet + PVC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5257800"/>
            <a:ext cx="35204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5367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ServiceMonitor · PrometheusRule · dashboard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194560" y="3429000"/>
            <a:ext cx="594360" cy="914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4343400" y="2377440"/>
            <a:ext cx="502920" cy="822960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4348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/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3657600"/>
            <a:ext cx="502920" cy="822960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251960" y="4160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/api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4498848"/>
            <a:ext cx="365760" cy="914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15400" y="132588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52560" y="1435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GitHub Actions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05256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test · scan · push · promote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15400" y="2606040"/>
            <a:ext cx="2743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52560" y="2715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GHCR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images tagged by commit SHA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15400" y="3794760"/>
            <a:ext cx="274320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52560" y="3904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Argo CD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052560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syncs helm/ + gitops/ values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915400" y="4983480"/>
            <a:ext cx="27432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52560" y="5093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Prometheus → Grafana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052560" y="5440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scrapes /metrics every 15 s; alerts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287000" y="2331720"/>
            <a:ext cx="914" cy="274320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87000" y="3520440"/>
            <a:ext cx="914" cy="274320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H="1">
            <a:off x="8366760" y="4251960"/>
            <a:ext cx="548640" cy="914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8366760" y="5532120"/>
            <a:ext cx="548640" cy="914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rule, three layers of defence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3"/>
                </a:solidFill>
              </a:rPr>
              <a:t>“A copy can never be on two active loans”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API check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copy.status must be available, else 409 "copy SL-001-1 is on loan"; the loan limit and fine block are checked the same way.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37744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Row locks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2004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SELECT … FOR UPDATE on member and copy, so two backend replicas handling simultaneous requests are serialised.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37744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Database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004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Partial unique index uq_loans_one_active_per_copy plus CHECK constraints on statuses, dates and fines. A test proves a raw INSERT is refused.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Migrations take a Postgres advisory lock: in a 3-pod race exactly one pod applied 0001/0002.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CI/CD: every push to main, 11 jobs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Quality gates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231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920240"/>
            <a:ext cx="2203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pytest (32)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70048"/>
            <a:ext cx="24231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670048"/>
            <a:ext cx="2203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Alembic up/down/up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+ 3-way race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19856"/>
            <a:ext cx="24231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419856"/>
            <a:ext cx="2203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Frontend 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+ npm audit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69664"/>
            <a:ext cx="24231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4169664"/>
            <a:ext cx="2203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Gitleaks + Bandit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19472"/>
            <a:ext cx="24231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4919472"/>
            <a:ext cx="2203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Helm lint ×4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2276856"/>
            <a:ext cx="182880" cy="914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24612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Build + scan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46120" y="1920240"/>
            <a:ext cx="2240280" cy="621792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55848" y="1920240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buildx amd64+arm64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OCI archive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46120" y="2670048"/>
            <a:ext cx="2240280" cy="621792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55848" y="2670048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Trivy per platform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HIGH/CRITICAL = fail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32120" y="2276856"/>
            <a:ext cx="182880" cy="914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760720" y="1417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Publish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760720" y="1920240"/>
            <a:ext cx="178308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70448" y="1920240"/>
            <a:ext cx="1563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skopeo push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ghcr.io/…:&lt;sha&gt;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89520" y="2276856"/>
            <a:ext cx="182880" cy="914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818120" y="1417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Verify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818120" y="1920240"/>
            <a:ext cx="178308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27848" y="1920240"/>
            <a:ext cx="1563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kind + helm install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smoke: version, 201, 409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646920" y="2276856"/>
            <a:ext cx="182880" cy="914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9875520" y="1417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GitOps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875520" y="1920240"/>
            <a:ext cx="178308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85248" y="1920240"/>
            <a:ext cx="1563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commit SHA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gitops/values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Scan what you ship: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archive Trivy approved is the exact one pushed. No :latest tag, and a 'tag required' guard in the Helm chart. Least-privilege permissions per job; the promote commit is path-ignored so it can't loop.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DevSecOps: Trivy blocked the first build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HIGH findings in the first backend image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417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880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after the fix, on amd64 and arm64, backend and frontend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CVE-2025-62727 · Starlette 0.48.0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1945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crafted Range header with many overlapping ranges made Starlette's merging step use excessive CPU, a denial-of-service. Fixed in 0.49.1.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Also found: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more Starlette advisories, setuptools (CVE-2025-47273), and urllib3 + msgpack vendored inside pip (CVE-2026-97687/97689, GHSA-6v7p-g79w-8964).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Fix: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upgrade FastAPI/Starlette, and make the backend multi-stage so the runtime image has no pip or setuptools at all (that removes the vendored urllib3 and msgpack too). Trivy exit code 1 → 0.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233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Gate: severity HIGH,CRITICAL · exit-code 1 · ignore-unfixed (under vulnerability:) · Gitleaks over full history · Bandit -ll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Also removed unused nginx modules from the frontend image (libtiff / libxslt / geoip) before the first scan.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Terraform: VPC + EKS in ap-south-1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766560" cy="4754880"/>
          </a:xfrm>
          <a:prstGeom prst="roundRect">
            <a:avLst>
              <a:gd name="adj" fmla="val 1923"/>
            </a:avLst>
          </a:prstGeom>
          <a:solidFill>
            <a:schemeClr val="bg2"/>
          </a:solidFill>
          <a:ln w="19050">
            <a:solidFill>
              <a:srgbClr val="2F5D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VPC 10.40.0.0/16 (DNS hostnames on)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063240" cy="3291840"/>
          </a:xfrm>
          <a:prstGeom prst="roundRect">
            <a:avLst>
              <a:gd name="adj" fmla="val 2388"/>
            </a:avLst>
          </a:prstGeom>
          <a:solidFill>
            <a:schemeClr val="bg1"/>
          </a:solidFill>
          <a:ln w="12700">
            <a:solidFill>
              <a:srgbClr val="6B7F79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91440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ap-south-1a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2377440"/>
            <a:ext cx="2697480" cy="1051560"/>
          </a:xfrm>
          <a:prstGeom prst="roundRect">
            <a:avLst>
              <a:gd name="adj" fmla="val 1043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4231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public 10.40.0.0/24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role/elb · public IPs · NAT GW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703320"/>
            <a:ext cx="269748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749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private 10.40.10.0/24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EKS node (t3.medium)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69080" y="1920240"/>
            <a:ext cx="3063240" cy="3291840"/>
          </a:xfrm>
          <a:prstGeom prst="roundRect">
            <a:avLst>
              <a:gd name="adj" fmla="val 2388"/>
            </a:avLst>
          </a:prstGeom>
          <a:solidFill>
            <a:schemeClr val="bg1"/>
          </a:solidFill>
          <a:ln w="12700">
            <a:solidFill>
              <a:srgbClr val="6B7F79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20624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ap-south-1b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2377440"/>
            <a:ext cx="2697480" cy="1051560"/>
          </a:xfrm>
          <a:prstGeom prst="roundRect">
            <a:avLst>
              <a:gd name="adj" fmla="val 1043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43400" y="24231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public 10.40.1.0/24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role/elb · public IPs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3703320"/>
            <a:ext cx="269748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3749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private 10.40.11.0/24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EKS node (t3.medium)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3492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IGW → public route table · NAT → private route table · EKS 1.34 control plane across all 4 subnets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plain aws_* resources, no modules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514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subnets over 2 AZs (2 public)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3657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886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managed nodes (min 1, max 3)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0" y="4892040"/>
            <a:ext cx="3886200" cy="1234440"/>
          </a:xfrm>
          <a:prstGeom prst="roundRect">
            <a:avLst>
              <a:gd name="adj" fmla="val 8889"/>
            </a:avLst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0" y="495604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 against the moto AWS emulator (no AWS account): init → plan (22 to add) → apply → destroy (22 destroyed). Same .tf files; only a git-ignored provider override differs.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Kubernetes + GitOps loop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git push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03120" y="2148840"/>
            <a:ext cx="914" cy="201168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2350008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500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pipeline green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3081528"/>
            <a:ext cx="914" cy="201168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3282696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8269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promote commit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(SHA → gitops/)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03120" y="4014216"/>
            <a:ext cx="914" cy="201168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4215384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21538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Argo CD sync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(≤ 60 s poll)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03120" y="4946904"/>
            <a:ext cx="914" cy="201168"/>
          </a:xfrm>
          <a:prstGeom prst="line">
            <a:avLst/>
          </a:prstGeom>
          <a:noFill/>
          <a:ln w="19050">
            <a:solidFill>
              <a:srgbClr val="6B7F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5148072"/>
            <a:ext cx="3108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14807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rolling update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maxUnavailable 0</a:t>
            </a:r>
            <a:endParaRPr lang="en-US" sz="1400" dirty="0"/>
          </a:p>
        </p:txBody>
      </p:sp>
      <p:pic>
        <p:nvPicPr>
          <p:cNvPr id="17" name="Image 0" descr="/Users/parthagarwal/Documents/devsecops-python/screenshots/m8-argocd-app-t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1417320"/>
            <a:ext cx="7635240" cy="4206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023360" y="57150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Chart: required SHA tag · non-root, read-only root FS, seccomp, drop ALL · HPA 2–6 @60% CPU · PDB minAvailable 1 · Ingress / → frontend, /api → backend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Load test: the HPA scales 2 → 6 and back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412480" y="1463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replicas at peak (max 6)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396%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peak avg CPU vs 60% target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4389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curl workers × 4 min via Ingress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5760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scaleDown stabilisation window 60 s; Prometheus showed 6/6 targets UP during the run.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Observability: HTTP and business metrics</a:t>
            </a:r>
            <a:endParaRPr lang="en-US" sz="3600" dirty="0"/>
          </a:p>
        </p:txBody>
      </p:sp>
      <p:pic>
        <p:nvPicPr>
          <p:cNvPr id="3" name="Image 0" descr="/Users/parthagarwal/Documents/devsecops-python/screenshots/m9-grafana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949440" cy="4800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81812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/metrics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818120" y="17556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prometheus-fastapi-instrumentator, latency buckets from 5 ms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Business gauges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697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loans active/overdue, copies by status, fines, read from Postgres at scrape time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33009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ServiceMonitor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36393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Prometheus scrapes every backend pod every 15 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42428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 alert rules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458114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BackendDown, 5xx &gt; 5%, p95 &gt; 500 ms, Overdue loans &gt; 5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5184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Grafana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55229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12-panel dashboard shipped in the Helm chart (sidecar label)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Key learnings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46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Architecture is part of the artifact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first GitOps sync crash-looped with 'exec format error': CI built amd64, the Mac runs arm64. Multi-arch images fixed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916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746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Scanners find real things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77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Trivy's first run failed on 7 HIGH findings; dropping pip from the runtime image removed a whole class of them.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690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Defaults hide data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54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Prometheus ignored the ServiceMonitor until the *SelectorNilUsesHelmValues flags were false; Grafana's 5xx stat read 'No data' instead of 0.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0690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Argo CD isn't Helm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754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lookup(), no Helm release: the DB secret is created at bootstrap and staging is Helm-installed for helm list.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Known limitations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!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17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Terraform ran on an emulator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0136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No personal AWS account; plan/apply/destroy ran against moto. The rubric's AWS Console screenshots are replaced by AWS CLI output from the emulator.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!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06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Single Postgres replica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9008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 StatefulSet with one PVC, no backups or HA; production would use RDS.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!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794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No authentication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7880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The desk UI is open; a real deployment needs staff login and role checks.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!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Local cluster only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3675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Kubernetes ran on kind; the chart is EKS-ready (Ingress, resources, PDB) but not deployed there.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Parth Agarwal · Roll No. 10293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Repo: github.com/Jadooonum1/devsecops-python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Images: ghcr.io/jadooonum1/shelflend-backend · shelflend-frontend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Demo video + slides: demo/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elfLend">
  <a:themeElements>
    <a:clrScheme name="ShelfLend">
      <a:dk1>
        <a:srgbClr val="1C2321"/>
      </a:dk1>
      <a:lt1>
        <a:srgbClr val="FFFFFF"/>
      </a:lt1>
      <a:dk2>
        <a:srgbClr val="1F3A34"/>
      </a:dk2>
      <a:lt2>
        <a:srgbClr val="EEF2EF"/>
      </a:lt2>
      <a:accent1>
        <a:srgbClr val="1F3A34"/>
      </a:accent1>
      <a:accent2>
        <a:srgbClr val="F4C95D"/>
      </a:accent2>
      <a:accent3>
        <a:srgbClr val="2F5D50"/>
      </a:accent3>
      <a:accent4>
        <a:srgbClr val="B5541B"/>
      </a:accent4>
      <a:accent5>
        <a:srgbClr val="2953A3"/>
      </a:accent5>
      <a:accent6>
        <a:srgbClr val="6B7F79"/>
      </a:accent6>
      <a:hlink>
        <a:srgbClr val="2F5D50"/>
      </a:hlink>
      <a:folHlink>
        <a:srgbClr val="6B7F79"/>
      </a:folHlink>
    </a:clrScheme>
    <a:fontScheme name="ShelfLe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ShelfLend - DevSecOps Capstone</dc:title>
  <dc:subject>PptxGenJS Presentation</dc:subject>
  <dc:creator>Parth Agarwal</dc:creator>
  <cp:lastModifiedBy>Parth Agarwal</cp:lastModifiedBy>
  <cp:revision>1</cp:revision>
  <dcterms:created xsi:type="dcterms:W3CDTF">2026-10-18T15:07:06Z</dcterms:created>
  <dcterms:modified xsi:type="dcterms:W3CDTF">2026-10-18T15:07:06Z</dcterms:modified>
</cp:coreProperties>
</file>